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12" autoAdjust="0"/>
    <p:restoredTop sz="94660"/>
  </p:normalViewPr>
  <p:slideViewPr>
    <p:cSldViewPr snapToGrid="0">
      <p:cViewPr varScale="1">
        <p:scale>
          <a:sx n="89" d="100"/>
          <a:sy n="89" d="100"/>
        </p:scale>
        <p:origin x="53" y="18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BB9FE-B992-4251-8BBE-8A3EC87EE165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92DE9-C66A-4784-B2D6-F77632E38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2185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BB9FE-B992-4251-8BBE-8A3EC87EE165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92DE9-C66A-4784-B2D6-F77632E38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426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BB9FE-B992-4251-8BBE-8A3EC87EE165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92DE9-C66A-4784-B2D6-F77632E38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516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BB9FE-B992-4251-8BBE-8A3EC87EE165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92DE9-C66A-4784-B2D6-F77632E38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1859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BB9FE-B992-4251-8BBE-8A3EC87EE165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92DE9-C66A-4784-B2D6-F77632E38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5945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BB9FE-B992-4251-8BBE-8A3EC87EE165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92DE9-C66A-4784-B2D6-F77632E38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0351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BB9FE-B992-4251-8BBE-8A3EC87EE165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92DE9-C66A-4784-B2D6-F77632E38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1089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BB9FE-B992-4251-8BBE-8A3EC87EE165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92DE9-C66A-4784-B2D6-F77632E38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638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BB9FE-B992-4251-8BBE-8A3EC87EE165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92DE9-C66A-4784-B2D6-F77632E38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02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BB9FE-B992-4251-8BBE-8A3EC87EE165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92DE9-C66A-4784-B2D6-F77632E38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886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BB9FE-B992-4251-8BBE-8A3EC87EE165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92DE9-C66A-4784-B2D6-F77632E38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0430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BB9FE-B992-4251-8BBE-8A3EC87EE165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92DE9-C66A-4784-B2D6-F77632E388DC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18544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BB9FE-B992-4251-8BBE-8A3EC87EE165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92DE9-C66A-4784-B2D6-F77632E38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3139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BB9FE-B992-4251-8BBE-8A3EC87EE165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92DE9-C66A-4784-B2D6-F77632E38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8611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BB9FE-B992-4251-8BBE-8A3EC87EE165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92DE9-C66A-4784-B2D6-F77632E38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3824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BB9FE-B992-4251-8BBE-8A3EC87EE165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92DE9-C66A-4784-B2D6-F77632E38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1795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BB9FE-B992-4251-8BBE-8A3EC87EE165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92DE9-C66A-4784-B2D6-F77632E38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122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5DCBB9FE-B992-4251-8BBE-8A3EC87EE165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71992DE9-C66A-4784-B2D6-F77632E38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243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PID </a:t>
            </a:r>
            <a:r>
              <a:rPr lang="en-US" dirty="0" err="1" smtClean="0"/>
              <a:t>Algorithem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4268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PID Line Follower Tuning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223520" y="2969812"/>
            <a:ext cx="11054080" cy="3735788"/>
          </a:xfrm>
        </p:spPr>
        <p:txBody>
          <a:bodyPr>
            <a:normAutofit/>
          </a:bodyPr>
          <a:lstStyle/>
          <a:p>
            <a:r>
              <a:rPr lang="en-US" cap="none" dirty="0" smtClean="0"/>
              <a:t>Start with P only  </a:t>
            </a:r>
          </a:p>
          <a:p>
            <a:pPr lvl="1"/>
            <a:r>
              <a:rPr lang="en-US" cap="none" dirty="0" smtClean="0">
                <a:solidFill>
                  <a:srgbClr val="0070C0"/>
                </a:solidFill>
              </a:rPr>
              <a:t>Speed (Our </a:t>
            </a:r>
            <a:r>
              <a:rPr lang="en-US" cap="none" dirty="0">
                <a:solidFill>
                  <a:srgbClr val="0070C0"/>
                </a:solidFill>
              </a:rPr>
              <a:t>s</a:t>
            </a:r>
            <a:r>
              <a:rPr lang="en-US" cap="none" dirty="0" smtClean="0">
                <a:solidFill>
                  <a:srgbClr val="0070C0"/>
                </a:solidFill>
              </a:rPr>
              <a:t>peed </a:t>
            </a:r>
            <a:r>
              <a:rPr lang="en-US" cap="none" smtClean="0">
                <a:solidFill>
                  <a:srgbClr val="0070C0"/>
                </a:solidFill>
              </a:rPr>
              <a:t>range </a:t>
            </a:r>
            <a:r>
              <a:rPr lang="en-US" cap="none" smtClean="0">
                <a:solidFill>
                  <a:srgbClr val="0070C0"/>
                </a:solidFill>
              </a:rPr>
              <a:t>700</a:t>
            </a:r>
            <a:r>
              <a:rPr lang="en-US" sz="1200" cap="none" smtClean="0">
                <a:solidFill>
                  <a:srgbClr val="0070C0"/>
                </a:solidFill>
              </a:rPr>
              <a:t>Min</a:t>
            </a:r>
            <a:r>
              <a:rPr lang="en-US" cap="none" smtClean="0">
                <a:solidFill>
                  <a:srgbClr val="0070C0"/>
                </a:solidFill>
              </a:rPr>
              <a:t> </a:t>
            </a:r>
            <a:r>
              <a:rPr lang="en-US" cap="none" dirty="0" smtClean="0">
                <a:solidFill>
                  <a:srgbClr val="0070C0"/>
                </a:solidFill>
              </a:rPr>
              <a:t>– 1200</a:t>
            </a:r>
            <a:r>
              <a:rPr lang="en-US" sz="1100" cap="none" dirty="0" smtClean="0">
                <a:solidFill>
                  <a:srgbClr val="0070C0"/>
                </a:solidFill>
              </a:rPr>
              <a:t>Max</a:t>
            </a:r>
            <a:r>
              <a:rPr lang="en-US" cap="none" dirty="0" smtClean="0">
                <a:solidFill>
                  <a:srgbClr val="0070C0"/>
                </a:solidFill>
              </a:rPr>
              <a:t>)</a:t>
            </a:r>
          </a:p>
          <a:p>
            <a:pPr lvl="1"/>
            <a:r>
              <a:rPr lang="en-US" cap="none" dirty="0" smtClean="0">
                <a:solidFill>
                  <a:schemeClr val="accent6">
                    <a:lumMod val="50000"/>
                  </a:schemeClr>
                </a:solidFill>
              </a:rPr>
              <a:t>Sensor Reading(1-2-4-8-16-32-64-128) </a:t>
            </a:r>
          </a:p>
          <a:p>
            <a:pPr lvl="1"/>
            <a:r>
              <a:rPr lang="en-US" dirty="0" smtClean="0">
                <a:solidFill>
                  <a:srgbClr val="FF0000"/>
                </a:solidFill>
              </a:rPr>
              <a:t>E</a:t>
            </a:r>
            <a:r>
              <a:rPr lang="en-US" cap="none" dirty="0" smtClean="0">
                <a:solidFill>
                  <a:srgbClr val="FF0000"/>
                </a:solidFill>
              </a:rPr>
              <a:t>rror Range </a:t>
            </a:r>
            <a:r>
              <a:rPr lang="en-US" cap="none" dirty="0" smtClean="0">
                <a:solidFill>
                  <a:srgbClr val="FF0000"/>
                </a:solidFill>
              </a:rPr>
              <a:t>(-7</a:t>
            </a:r>
            <a:r>
              <a:rPr lang="en-US" sz="1100" cap="none" dirty="0" smtClean="0">
                <a:solidFill>
                  <a:srgbClr val="FF0000"/>
                </a:solidFill>
              </a:rPr>
              <a:t>Min</a:t>
            </a:r>
            <a:r>
              <a:rPr lang="en-US" cap="none" dirty="0" smtClean="0">
                <a:solidFill>
                  <a:srgbClr val="FF0000"/>
                </a:solidFill>
              </a:rPr>
              <a:t> </a:t>
            </a:r>
            <a:r>
              <a:rPr lang="en-US" cap="none" dirty="0" smtClean="0">
                <a:solidFill>
                  <a:srgbClr val="FF0000"/>
                </a:solidFill>
              </a:rPr>
              <a:t>-&gt; </a:t>
            </a:r>
            <a:r>
              <a:rPr lang="en-US" cap="none" dirty="0" smtClean="0">
                <a:solidFill>
                  <a:srgbClr val="FF0000"/>
                </a:solidFill>
              </a:rPr>
              <a:t>7</a:t>
            </a:r>
            <a:r>
              <a:rPr lang="en-US" sz="1050" cap="none" dirty="0" smtClean="0">
                <a:solidFill>
                  <a:srgbClr val="FF0000"/>
                </a:solidFill>
              </a:rPr>
              <a:t>Max</a:t>
            </a:r>
            <a:r>
              <a:rPr lang="en-US" cap="none" dirty="0" smtClean="0">
                <a:solidFill>
                  <a:srgbClr val="FF0000"/>
                </a:solidFill>
              </a:rPr>
              <a:t> </a:t>
            </a:r>
            <a:r>
              <a:rPr lang="en-US" cap="none" dirty="0" smtClean="0">
                <a:solidFill>
                  <a:srgbClr val="FF0000"/>
                </a:solidFill>
              </a:rPr>
              <a:t>)</a:t>
            </a:r>
          </a:p>
          <a:p>
            <a:pPr lvl="1"/>
            <a:r>
              <a:rPr lang="en-US" cap="none" dirty="0" smtClean="0"/>
              <a:t>Determine </a:t>
            </a:r>
            <a:r>
              <a:rPr lang="en-US" cap="none" dirty="0"/>
              <a:t>a starting </a:t>
            </a:r>
            <a:r>
              <a:rPr lang="en-US" cap="none" dirty="0" err="1"/>
              <a:t>kp</a:t>
            </a:r>
            <a:r>
              <a:rPr lang="en-US" cap="none" dirty="0"/>
              <a:t> value</a:t>
            </a:r>
          </a:p>
          <a:p>
            <a:pPr lvl="2"/>
            <a:r>
              <a:rPr lang="en-US" dirty="0"/>
              <a:t>MAX_SPEED = MAX_ERROR * KP</a:t>
            </a:r>
          </a:p>
          <a:p>
            <a:pPr lvl="2"/>
            <a:r>
              <a:rPr lang="en-US" dirty="0" smtClean="0"/>
              <a:t>1200 </a:t>
            </a:r>
            <a:r>
              <a:rPr lang="en-US" dirty="0"/>
              <a:t>= </a:t>
            </a:r>
            <a:r>
              <a:rPr lang="en-US" dirty="0" smtClean="0"/>
              <a:t>7 </a:t>
            </a:r>
            <a:r>
              <a:rPr lang="en-US" cap="none" dirty="0" smtClean="0"/>
              <a:t>x </a:t>
            </a:r>
            <a:r>
              <a:rPr lang="en-US" dirty="0" smtClean="0"/>
              <a:t>KP</a:t>
            </a:r>
            <a:endParaRPr lang="en-US" dirty="0"/>
          </a:p>
          <a:p>
            <a:pPr lvl="2"/>
            <a:r>
              <a:rPr lang="en-US" dirty="0" smtClean="0"/>
              <a:t>1200 </a:t>
            </a:r>
            <a:r>
              <a:rPr lang="en-US" dirty="0"/>
              <a:t>/ </a:t>
            </a:r>
            <a:r>
              <a:rPr lang="en-US" dirty="0" smtClean="0"/>
              <a:t>7= 172</a:t>
            </a:r>
          </a:p>
          <a:p>
            <a:pPr lvl="2"/>
            <a:r>
              <a:rPr lang="en-US" dirty="0" smtClean="0"/>
              <a:t> PID = P </a:t>
            </a:r>
            <a:r>
              <a:rPr lang="en-US" cap="none" dirty="0" smtClean="0"/>
              <a:t>x</a:t>
            </a:r>
            <a:r>
              <a:rPr lang="en-US" dirty="0" smtClean="0"/>
              <a:t> error</a:t>
            </a:r>
            <a:endParaRPr lang="en-US" dirty="0"/>
          </a:p>
          <a:p>
            <a:pPr marL="457200" lvl="1" indent="0">
              <a:buNone/>
            </a:pPr>
            <a:endParaRPr lang="en-US" cap="none" dirty="0"/>
          </a:p>
        </p:txBody>
      </p:sp>
      <p:grpSp>
        <p:nvGrpSpPr>
          <p:cNvPr id="41" name="Group 40"/>
          <p:cNvGrpSpPr/>
          <p:nvPr/>
        </p:nvGrpSpPr>
        <p:grpSpPr>
          <a:xfrm>
            <a:off x="7271548" y="1345735"/>
            <a:ext cx="4920452" cy="3439626"/>
            <a:chOff x="7271548" y="1345735"/>
            <a:chExt cx="4920452" cy="3439626"/>
          </a:xfrm>
        </p:grpSpPr>
        <p:grpSp>
          <p:nvGrpSpPr>
            <p:cNvPr id="39" name="Group 38"/>
            <p:cNvGrpSpPr/>
            <p:nvPr/>
          </p:nvGrpSpPr>
          <p:grpSpPr>
            <a:xfrm>
              <a:off x="7271548" y="1345735"/>
              <a:ext cx="4920452" cy="3439626"/>
              <a:chOff x="7271548" y="1345735"/>
              <a:chExt cx="4920452" cy="3439626"/>
            </a:xfrm>
          </p:grpSpPr>
          <p:cxnSp>
            <p:nvCxnSpPr>
              <p:cNvPr id="33" name="Straight Arrow Connector 32"/>
              <p:cNvCxnSpPr/>
              <p:nvPr/>
            </p:nvCxnSpPr>
            <p:spPr>
              <a:xfrm flipV="1">
                <a:off x="7413470" y="2500092"/>
                <a:ext cx="2309559" cy="108564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headEnd type="triangle"/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8" name="Group 37"/>
              <p:cNvGrpSpPr/>
              <p:nvPr/>
            </p:nvGrpSpPr>
            <p:grpSpPr>
              <a:xfrm>
                <a:off x="7271548" y="1345735"/>
                <a:ext cx="4920452" cy="3439626"/>
                <a:chOff x="7271548" y="1345735"/>
                <a:chExt cx="4920452" cy="3439626"/>
              </a:xfrm>
            </p:grpSpPr>
            <p:cxnSp>
              <p:nvCxnSpPr>
                <p:cNvPr id="35" name="Straight Arrow Connector 34"/>
                <p:cNvCxnSpPr/>
                <p:nvPr/>
              </p:nvCxnSpPr>
              <p:spPr>
                <a:xfrm flipH="1" flipV="1">
                  <a:off x="9723029" y="2500092"/>
                  <a:ext cx="2281504" cy="1167631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headEnd type="triangle"/>
                  <a:tailEnd type="triangle"/>
                </a:ln>
              </p:spPr>
              <p:style>
                <a:lnRef idx="3">
                  <a:schemeClr val="accent1"/>
                </a:lnRef>
                <a:fillRef idx="0">
                  <a:schemeClr val="accent1"/>
                </a:fillRef>
                <a:effectRef idx="2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2" name="Group 31"/>
                <p:cNvGrpSpPr/>
                <p:nvPr/>
              </p:nvGrpSpPr>
              <p:grpSpPr>
                <a:xfrm>
                  <a:off x="7271548" y="1345735"/>
                  <a:ext cx="4920452" cy="3439626"/>
                  <a:chOff x="5958212" y="1813094"/>
                  <a:chExt cx="5387812" cy="3978105"/>
                </a:xfrm>
              </p:grpSpPr>
              <p:cxnSp>
                <p:nvCxnSpPr>
                  <p:cNvPr id="11" name="Straight Connector 10"/>
                  <p:cNvCxnSpPr/>
                  <p:nvPr/>
                </p:nvCxnSpPr>
                <p:spPr>
                  <a:xfrm flipV="1">
                    <a:off x="8642544" y="2145030"/>
                    <a:ext cx="0" cy="2287274"/>
                  </a:xfrm>
                  <a:prstGeom prst="line">
                    <a:avLst/>
                  </a:prstGeom>
                </p:spPr>
                <p:style>
                  <a:lnRef idx="3">
                    <a:schemeClr val="accent1"/>
                  </a:lnRef>
                  <a:fillRef idx="0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tx1"/>
                  </a:fontRef>
                </p:style>
              </p:cxnSp>
              <p:pic>
                <p:nvPicPr>
                  <p:cNvPr id="4" name="Picture 3"/>
                  <p:cNvPicPr>
                    <a:picLocks noChangeAspect="1"/>
                  </p:cNvPicPr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6010224" y="4432303"/>
                    <a:ext cx="5130527" cy="1358896"/>
                  </a:xfrm>
                  <a:prstGeom prst="rect">
                    <a:avLst/>
                  </a:prstGeom>
                </p:spPr>
              </p:pic>
              <p:cxnSp>
                <p:nvCxnSpPr>
                  <p:cNvPr id="24" name="Straight Arrow Connector 23"/>
                  <p:cNvCxnSpPr/>
                  <p:nvPr/>
                </p:nvCxnSpPr>
                <p:spPr>
                  <a:xfrm>
                    <a:off x="8642544" y="2001508"/>
                    <a:ext cx="2498207" cy="2517152"/>
                  </a:xfrm>
                  <a:prstGeom prst="straightConnector1">
                    <a:avLst/>
                  </a:prstGeom>
                  <a:ln>
                    <a:headEnd type="triangle"/>
                    <a:tailEnd type="triangle"/>
                  </a:ln>
                </p:spPr>
                <p:style>
                  <a:lnRef idx="3">
                    <a:schemeClr val="accent1"/>
                  </a:lnRef>
                  <a:fillRef idx="0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" name="Straight Arrow Connector 21"/>
                  <p:cNvCxnSpPr/>
                  <p:nvPr/>
                </p:nvCxnSpPr>
                <p:spPr>
                  <a:xfrm flipV="1">
                    <a:off x="6095687" y="2004531"/>
                    <a:ext cx="2546857" cy="2427772"/>
                  </a:xfrm>
                  <a:prstGeom prst="straightConnector1">
                    <a:avLst/>
                  </a:prstGeom>
                  <a:ln>
                    <a:headEnd type="triangle"/>
                    <a:tailEnd type="triangle"/>
                  </a:ln>
                </p:spPr>
                <p:style>
                  <a:lnRef idx="3">
                    <a:schemeClr val="accent1"/>
                  </a:lnRef>
                  <a:fillRef idx="0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7" name="TextBox 26"/>
                  <p:cNvSpPr txBox="1"/>
                  <p:nvPr/>
                </p:nvSpPr>
                <p:spPr>
                  <a:xfrm>
                    <a:off x="10991172" y="4062971"/>
                    <a:ext cx="31290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b="1" dirty="0" smtClean="0">
                        <a:solidFill>
                          <a:schemeClr val="bg2">
                            <a:lumMod val="75000"/>
                          </a:schemeClr>
                        </a:solidFill>
                      </a:rPr>
                      <a:t>0</a:t>
                    </a:r>
                    <a:endParaRPr lang="en-US" b="1" dirty="0">
                      <a:solidFill>
                        <a:schemeClr val="bg2">
                          <a:lumMod val="75000"/>
                        </a:schemeClr>
                      </a:solidFill>
                    </a:endParaRPr>
                  </a:p>
                </p:txBody>
              </p:sp>
              <p:sp>
                <p:nvSpPr>
                  <p:cNvPr id="28" name="TextBox 27"/>
                  <p:cNvSpPr txBox="1"/>
                  <p:nvPr/>
                </p:nvSpPr>
                <p:spPr>
                  <a:xfrm>
                    <a:off x="7895311" y="1813094"/>
                    <a:ext cx="697627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b="1" dirty="0" smtClean="0">
                        <a:solidFill>
                          <a:schemeClr val="bg2">
                            <a:lumMod val="75000"/>
                          </a:schemeClr>
                        </a:solidFill>
                      </a:rPr>
                      <a:t>1200</a:t>
                    </a:r>
                    <a:endParaRPr lang="en-US" b="1" dirty="0">
                      <a:solidFill>
                        <a:schemeClr val="bg2">
                          <a:lumMod val="75000"/>
                        </a:schemeClr>
                      </a:solidFill>
                    </a:endParaRPr>
                  </a:p>
                </p:txBody>
              </p:sp>
              <p:sp>
                <p:nvSpPr>
                  <p:cNvPr id="29" name="TextBox 28"/>
                  <p:cNvSpPr txBox="1"/>
                  <p:nvPr/>
                </p:nvSpPr>
                <p:spPr>
                  <a:xfrm>
                    <a:off x="8728007" y="1845362"/>
                    <a:ext cx="697627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b="1" dirty="0" smtClean="0">
                        <a:solidFill>
                          <a:schemeClr val="bg2">
                            <a:lumMod val="75000"/>
                          </a:schemeClr>
                        </a:solidFill>
                      </a:rPr>
                      <a:t>1200</a:t>
                    </a:r>
                    <a:endParaRPr lang="en-US" b="1" dirty="0">
                      <a:solidFill>
                        <a:schemeClr val="bg2">
                          <a:lumMod val="75000"/>
                        </a:schemeClr>
                      </a:solidFill>
                    </a:endParaRPr>
                  </a:p>
                </p:txBody>
              </p:sp>
              <p:sp>
                <p:nvSpPr>
                  <p:cNvPr id="30" name="TextBox 29"/>
                  <p:cNvSpPr txBox="1"/>
                  <p:nvPr/>
                </p:nvSpPr>
                <p:spPr>
                  <a:xfrm>
                    <a:off x="5958212" y="3986772"/>
                    <a:ext cx="31290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b="1" dirty="0" smtClean="0">
                        <a:solidFill>
                          <a:schemeClr val="bg2">
                            <a:lumMod val="75000"/>
                          </a:schemeClr>
                        </a:solidFill>
                      </a:rPr>
                      <a:t>0</a:t>
                    </a:r>
                    <a:endParaRPr lang="en-US" b="1" dirty="0">
                      <a:solidFill>
                        <a:schemeClr val="bg2">
                          <a:lumMod val="75000"/>
                        </a:schemeClr>
                      </a:solidFill>
                    </a:endParaRPr>
                  </a:p>
                </p:txBody>
              </p:sp>
              <p:sp>
                <p:nvSpPr>
                  <p:cNvPr id="5" name="TextBox 4"/>
                  <p:cNvSpPr txBox="1"/>
                  <p:nvPr/>
                </p:nvSpPr>
                <p:spPr>
                  <a:xfrm>
                    <a:off x="6215497" y="3797428"/>
                    <a:ext cx="5130527" cy="74751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dirty="0" smtClean="0">
                        <a:solidFill>
                          <a:srgbClr val="FF0000"/>
                        </a:solidFill>
                      </a:rPr>
                      <a:t>-7      -5</a:t>
                    </a:r>
                    <a:r>
                      <a:rPr lang="en-US" dirty="0">
                        <a:solidFill>
                          <a:srgbClr val="FF0000"/>
                        </a:solidFill>
                      </a:rPr>
                      <a:t>	   </a:t>
                    </a:r>
                    <a:r>
                      <a:rPr lang="en-US" dirty="0" smtClean="0">
                        <a:solidFill>
                          <a:srgbClr val="FF0000"/>
                        </a:solidFill>
                      </a:rPr>
                      <a:t>-3</a:t>
                    </a:r>
                    <a:r>
                      <a:rPr lang="en-US" dirty="0">
                        <a:solidFill>
                          <a:srgbClr val="FF0000"/>
                        </a:solidFill>
                      </a:rPr>
                      <a:t>	      </a:t>
                    </a:r>
                    <a:r>
                      <a:rPr lang="en-US" dirty="0" smtClean="0">
                        <a:solidFill>
                          <a:srgbClr val="FF0000"/>
                        </a:solidFill>
                      </a:rPr>
                      <a:t>-1</a:t>
                    </a:r>
                    <a:r>
                      <a:rPr lang="en-US" dirty="0">
                        <a:solidFill>
                          <a:srgbClr val="FF0000"/>
                        </a:solidFill>
                      </a:rPr>
                      <a:t>	</a:t>
                    </a:r>
                    <a:r>
                      <a:rPr lang="en-US" dirty="0" smtClean="0">
                        <a:solidFill>
                          <a:srgbClr val="FF0000"/>
                        </a:solidFill>
                      </a:rPr>
                      <a:t>1</a:t>
                    </a:r>
                    <a:r>
                      <a:rPr lang="en-US" dirty="0">
                        <a:solidFill>
                          <a:srgbClr val="FF0000"/>
                        </a:solidFill>
                      </a:rPr>
                      <a:t>	  </a:t>
                    </a:r>
                    <a:r>
                      <a:rPr lang="en-US" dirty="0" smtClean="0">
                        <a:solidFill>
                          <a:srgbClr val="FF0000"/>
                        </a:solidFill>
                      </a:rPr>
                      <a:t> 3</a:t>
                    </a:r>
                    <a:r>
                      <a:rPr lang="en-US" dirty="0">
                        <a:solidFill>
                          <a:srgbClr val="FF0000"/>
                        </a:solidFill>
                      </a:rPr>
                      <a:t>	    </a:t>
                    </a:r>
                    <a:r>
                      <a:rPr lang="en-US" dirty="0" smtClean="0">
                        <a:solidFill>
                          <a:srgbClr val="FF0000"/>
                        </a:solidFill>
                      </a:rPr>
                      <a:t> 5      7</a:t>
                    </a:r>
                  </a:p>
                  <a:p>
                    <a:r>
                      <a:rPr lang="en-US" dirty="0" smtClean="0">
                        <a:solidFill>
                          <a:schemeClr val="accent6">
                            <a:lumMod val="50000"/>
                          </a:schemeClr>
                        </a:solidFill>
                      </a:rPr>
                      <a:t>2       4</a:t>
                    </a:r>
                    <a:r>
                      <a:rPr lang="en-US" dirty="0" smtClean="0">
                        <a:solidFill>
                          <a:schemeClr val="accent6">
                            <a:lumMod val="50000"/>
                          </a:schemeClr>
                        </a:solidFill>
                      </a:rPr>
                      <a:t>	    </a:t>
                    </a:r>
                    <a:r>
                      <a:rPr lang="en-US" dirty="0" smtClean="0">
                        <a:solidFill>
                          <a:schemeClr val="accent6">
                            <a:lumMod val="50000"/>
                          </a:schemeClr>
                        </a:solidFill>
                      </a:rPr>
                      <a:t>6</a:t>
                    </a:r>
                    <a:r>
                      <a:rPr lang="en-US" dirty="0" smtClean="0">
                        <a:solidFill>
                          <a:schemeClr val="accent6">
                            <a:lumMod val="50000"/>
                          </a:schemeClr>
                        </a:solidFill>
                      </a:rPr>
                      <a:t>	      </a:t>
                    </a:r>
                    <a:r>
                      <a:rPr lang="en-US" dirty="0" smtClean="0">
                        <a:solidFill>
                          <a:schemeClr val="accent6">
                            <a:lumMod val="50000"/>
                          </a:schemeClr>
                        </a:solidFill>
                      </a:rPr>
                      <a:t>8</a:t>
                    </a:r>
                    <a:r>
                      <a:rPr lang="en-US" dirty="0" smtClean="0">
                        <a:solidFill>
                          <a:schemeClr val="accent6">
                            <a:lumMod val="50000"/>
                          </a:schemeClr>
                        </a:solidFill>
                      </a:rPr>
                      <a:t>	</a:t>
                    </a:r>
                    <a:r>
                      <a:rPr lang="en-US" dirty="0" smtClean="0">
                        <a:solidFill>
                          <a:schemeClr val="accent6">
                            <a:lumMod val="50000"/>
                          </a:schemeClr>
                        </a:solidFill>
                      </a:rPr>
                      <a:t>10</a:t>
                    </a:r>
                    <a:r>
                      <a:rPr lang="en-US" dirty="0" smtClean="0">
                        <a:solidFill>
                          <a:schemeClr val="accent6">
                            <a:lumMod val="50000"/>
                          </a:schemeClr>
                        </a:solidFill>
                      </a:rPr>
                      <a:t>	  </a:t>
                    </a:r>
                    <a:r>
                      <a:rPr lang="en-US" dirty="0" smtClean="0">
                        <a:solidFill>
                          <a:schemeClr val="accent6">
                            <a:lumMod val="50000"/>
                          </a:schemeClr>
                        </a:solidFill>
                      </a:rPr>
                      <a:t>12</a:t>
                    </a:r>
                    <a:r>
                      <a:rPr lang="en-US" dirty="0" smtClean="0">
                        <a:solidFill>
                          <a:schemeClr val="accent6">
                            <a:lumMod val="50000"/>
                          </a:schemeClr>
                        </a:solidFill>
                      </a:rPr>
                      <a:t>	    </a:t>
                    </a:r>
                    <a:r>
                      <a:rPr lang="en-US" dirty="0" smtClean="0">
                        <a:solidFill>
                          <a:schemeClr val="accent6">
                            <a:lumMod val="50000"/>
                          </a:schemeClr>
                        </a:solidFill>
                      </a:rPr>
                      <a:t>14    16</a:t>
                    </a:r>
                    <a:endParaRPr lang="en-US" dirty="0">
                      <a:solidFill>
                        <a:schemeClr val="accent6">
                          <a:lumMod val="50000"/>
                        </a:schemeClr>
                      </a:solidFill>
                    </a:endParaRPr>
                  </a:p>
                </p:txBody>
              </p:sp>
            </p:grpSp>
          </p:grpSp>
        </p:grpSp>
        <p:sp>
          <p:nvSpPr>
            <p:cNvPr id="40" name="TextBox 39"/>
            <p:cNvSpPr txBox="1"/>
            <p:nvPr/>
          </p:nvSpPr>
          <p:spPr>
            <a:xfrm>
              <a:off x="9562640" y="2712092"/>
              <a:ext cx="3478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rgbClr val="FF0000"/>
                  </a:solidFill>
                </a:rPr>
                <a:t>0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07838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634016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1912</TotalTime>
  <Words>64</Words>
  <Application>Microsoft Office PowerPoint</Application>
  <PresentationFormat>Widescreen</PresentationFormat>
  <Paragraphs>18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Tw Cen MT</vt:lpstr>
      <vt:lpstr>Droplet</vt:lpstr>
      <vt:lpstr>PID Algorithem</vt:lpstr>
      <vt:lpstr>PID Line Follower Tuning 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PID Algorithem</dc:title>
  <dc:creator>Youssef Harby</dc:creator>
  <cp:lastModifiedBy>LENOVO</cp:lastModifiedBy>
  <cp:revision>15</cp:revision>
  <dcterms:created xsi:type="dcterms:W3CDTF">2025-09-20T12:21:08Z</dcterms:created>
  <dcterms:modified xsi:type="dcterms:W3CDTF">2025-11-07T22:35:47Z</dcterms:modified>
</cp:coreProperties>
</file>